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Apresentação institucional e modelo comercial. Assinatura de marca sugerida. O nome e os contatos são os dados informados pelo proprietário. Os slides 3, 4 e 5 contêm sugestões ou campos a validar antes de envio comercial.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Origem do nome fornecida pelo proprietário: BRAVE = coragem; IT = Information Technology; E = Engineer. Não apresentar essas partes como sigla técnica ou certificação.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MODELO. As três frentes foram propostas para organizar uma possível oferta. Elas não constituem catálogo oficial confirmado. Validar capacidade, escopo, tecnologias, manutenção e suporte. Remover esta nota e a indicação de modelo apenas depois da validação.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MODELO. Processo sugerido, a validar com a operação. Não representa SLA, prazo, número de reuniões ou obrigação comercial. Ajustar à realidade e ao contrato de cada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Preencher todos os campos entre colchetes com dados do projeto. Confirmar escopo, exclusões, premissas, acessos, etapas, prazos, investimento, tributos aplicáveis, pagamento, responsabilidades e aceite. O slide é um resumo; não substitui proposta detalhada ou contrato. Não enviar com campos em branco.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Contatos fornecidos pelo proprietário: www.bravite.com.br e Instagram @bravite.br. Conferir a disponibilidade dos canais antes de distribuir. Não foi informado e-mail ou telefone.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la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22300"/>
            <a:ext cx="2895600" cy="419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5000" y="685800"/>
            <a:ext cx="3238500" cy="2974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6BDC9"/>
                </a:solidFill>
                <a:latin typeface="Space Grotesk Medium"/>
              </a:defRPr>
            </a:pPr>
            <a:r>
              <a:t>APRESENTAÇÃO INSTITUCIONAL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146300"/>
            <a:ext cx="10287000" cy="1701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62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rgbClr val="FFFFFF"/>
                </a:solidFill>
                <a:latin typeface="Space Grotesk"/>
              </a:defRPr>
            </a:pPr>
            <a:r>
              <a:t>Coragem para criar.</a:t>
            </a:r>
          </a:p>
          <a:p>
            <a:pPr>
              <a:lnSpc>
                <a:spcPts val="62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rgbClr val="FFFFFF"/>
                </a:solidFill>
                <a:latin typeface="Space Grotesk"/>
              </a:defRPr>
            </a:pPr>
            <a:r>
              <a:t>Engenharia para evoluir.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4699000"/>
            <a:ext cx="2108200" cy="431800"/>
          </a:xfrm>
          <a:prstGeom prst="rect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9799" y="4813300"/>
            <a:ext cx="1841500" cy="312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Space Grotesk"/>
              </a:defRPr>
            </a:pPr>
            <a:r>
              <a:t>SOFTWARE 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499100"/>
            <a:ext cx="4445000" cy="3594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Space Grotesk"/>
              </a:defRPr>
            </a:pPr>
            <a:r>
              <a:t>www.bravite.com.br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1900" y="5499100"/>
            <a:ext cx="3048000" cy="3594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Space Grotesk"/>
              </a:defRPr>
            </a:pPr>
            <a:r>
              <a:t>Instagram  @bravite.br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06100" y="2146300"/>
            <a:ext cx="749300" cy="0"/>
          </a:xfrm>
          <a:prstGeom prst="line">
            <a:avLst/>
          </a:prstGeom>
          <a:ln w="76200">
            <a:solidFill>
              <a:srgbClr val="2D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706100" y="2527300"/>
            <a:ext cx="533400" cy="0"/>
          </a:xfrm>
          <a:prstGeom prst="line">
            <a:avLst/>
          </a:prstGeom>
          <a:ln w="76200">
            <a:solidFill>
              <a:srgbClr val="2D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706100" y="2908300"/>
            <a:ext cx="749300" cy="0"/>
          </a:xfrm>
          <a:prstGeom prst="line">
            <a:avLst/>
          </a:prstGeom>
          <a:ln w="76200">
            <a:solidFill>
              <a:srgbClr val="2D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96900"/>
            <a:ext cx="10668000" cy="2974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475"/>
                </a:solidFill>
                <a:latin typeface="Space Grotesk Medium"/>
              </a:defRPr>
            </a:pPr>
            <a:r>
              <a:t>01 / ESSÊNCIA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397000"/>
            <a:ext cx="4635500" cy="157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rgbClr val="0A0A0A"/>
                </a:solidFill>
                <a:latin typeface="Space Grotesk"/>
              </a:defRPr>
            </a:pPr>
            <a:r>
              <a:t>Um nome.</a:t>
            </a:r>
          </a:p>
          <a:p>
            <a:pPr>
              <a:lnSpc>
                <a:spcPts val="57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rgbClr val="0A0A0A"/>
                </a:solidFill>
                <a:latin typeface="Space Grotesk"/>
              </a:defRPr>
            </a:pPr>
            <a:r>
              <a:t>Três ideias.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594100"/>
            <a:ext cx="4445000" cy="1155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A6475"/>
                </a:solidFill>
                <a:latin typeface="Space Grotesk"/>
              </a:defRPr>
            </a:pPr>
            <a:r>
              <a:t>A Bravite é uma software house</a:t>
            </a:r>
          </a:p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A6475"/>
                </a:solidFill>
                <a:latin typeface="Space Grotesk"/>
              </a:defRPr>
            </a:pPr>
            <a:r>
              <a:t>cujo nome reúne coragem,</a:t>
            </a:r>
          </a:p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A6475"/>
                </a:solidFill>
                <a:latin typeface="Space Grotesk"/>
              </a:defRPr>
            </a:pPr>
            <a:r>
              <a:t>tecnologia e engenharia.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575300" y="1422400"/>
            <a:ext cx="0" cy="3911600"/>
          </a:xfrm>
          <a:prstGeom prst="line">
            <a:avLst/>
          </a:prstGeom>
          <a:ln w="1270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108700" y="1460500"/>
            <a:ext cx="2349500" cy="669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4270"/>
              </a:lnSpc>
              <a:spcBef>
                <a:spcPts val="0"/>
              </a:spcBef>
              <a:spcAft>
                <a:spcPts val="0"/>
              </a:spcAft>
              <a:defRPr sz="3500" b="0">
                <a:solidFill>
                  <a:srgbClr val="0A0A0A"/>
                </a:solidFill>
                <a:latin typeface="Space Grotesk Medium"/>
              </a:defRPr>
            </a:pPr>
            <a:r>
              <a:t>BRAVE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59800" y="1612900"/>
            <a:ext cx="3048000" cy="390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A6475"/>
                </a:solidFill>
                <a:latin typeface="Space Grotesk"/>
              </a:defRPr>
            </a:pPr>
            <a:r>
              <a:t>Coragem.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6000" y="2451100"/>
            <a:ext cx="5334000" cy="0"/>
          </a:xfrm>
          <a:prstGeom prst="line">
            <a:avLst/>
          </a:prstGeom>
          <a:ln w="1270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08700" y="2819400"/>
            <a:ext cx="2349500" cy="669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4270"/>
              </a:lnSpc>
              <a:spcBef>
                <a:spcPts val="0"/>
              </a:spcBef>
              <a:spcAft>
                <a:spcPts val="0"/>
              </a:spcAft>
              <a:defRPr sz="3500" b="0">
                <a:solidFill>
                  <a:srgbClr val="0A0A0A"/>
                </a:solidFill>
                <a:latin typeface="Space Grotesk Medium"/>
              </a:defRPr>
            </a:pPr>
            <a:r>
              <a:t>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9800" y="2971800"/>
            <a:ext cx="3048000" cy="390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A6475"/>
                </a:solidFill>
                <a:latin typeface="Space Grotesk"/>
              </a:defRPr>
            </a:pPr>
            <a:r>
              <a:t>Information Technology.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6000" y="3810000"/>
            <a:ext cx="5334000" cy="0"/>
          </a:xfrm>
          <a:prstGeom prst="line">
            <a:avLst/>
          </a:prstGeom>
          <a:ln w="1270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08700" y="4178300"/>
            <a:ext cx="2349500" cy="6692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4270"/>
              </a:lnSpc>
              <a:spcBef>
                <a:spcPts val="0"/>
              </a:spcBef>
              <a:spcAft>
                <a:spcPts val="0"/>
              </a:spcAft>
              <a:defRPr sz="3500" b="0">
                <a:solidFill>
                  <a:srgbClr val="0A0A0A"/>
                </a:solidFill>
                <a:latin typeface="Space Grotesk Medium"/>
              </a:defRPr>
            </a:pPr>
            <a: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9800" y="4330700"/>
            <a:ext cx="3048000" cy="390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A6475"/>
                </a:solidFill>
                <a:latin typeface="Space Grotesk"/>
              </a:defRPr>
            </a:pPr>
            <a:r>
              <a:t>Engineer.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6000" y="5168900"/>
            <a:ext cx="5334000" cy="0"/>
          </a:xfrm>
          <a:prstGeom prst="line">
            <a:avLst/>
          </a:prstGeom>
          <a:ln w="1270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2000" y="6172200"/>
            <a:ext cx="10668000" cy="0"/>
          </a:xfrm>
          <a:prstGeom prst="line">
            <a:avLst/>
          </a:prstGeom>
          <a:ln w="762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2000" y="6388100"/>
            <a:ext cx="10668000" cy="2819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475"/>
                </a:solidFill>
                <a:latin typeface="Space Grotesk Medium"/>
              </a:defRPr>
            </a:pPr>
            <a:r>
              <a:t>BRAVITE  /  SOFTWARE HOUSE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23600" y="6337300"/>
            <a:ext cx="406400" cy="3749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A0A0A"/>
                </a:solidFill>
                <a:latin typeface="Space Grotesk Medium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96900"/>
            <a:ext cx="10668000" cy="2974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6BDC9"/>
                </a:solidFill>
                <a:latin typeface="Space Grotesk Medium"/>
              </a:defRPr>
            </a:pPr>
            <a:r>
              <a:t>02 / FRENTES DE ATUAÇÃO PROPOSTAS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282700"/>
            <a:ext cx="9906000" cy="147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5300"/>
              </a:lnSpc>
              <a:spcBef>
                <a:spcPts val="0"/>
              </a:spcBef>
              <a:spcAft>
                <a:spcPts val="0"/>
              </a:spcAft>
              <a:defRPr sz="4300" b="0">
                <a:solidFill>
                  <a:srgbClr val="FFFFFF"/>
                </a:solidFill>
                <a:latin typeface="Space Grotesk"/>
              </a:defRPr>
            </a:pPr>
            <a:r>
              <a:t>Tecnologia com</a:t>
            </a:r>
          </a:p>
          <a:p>
            <a:pPr>
              <a:lnSpc>
                <a:spcPts val="5300"/>
              </a:lnSpc>
              <a:spcBef>
                <a:spcPts val="0"/>
              </a:spcBef>
              <a:spcAft>
                <a:spcPts val="0"/>
              </a:spcAft>
              <a:defRPr sz="4300" b="0">
                <a:solidFill>
                  <a:srgbClr val="FFFFFF"/>
                </a:solidFill>
                <a:latin typeface="Space Grotesk"/>
              </a:defRPr>
            </a:pPr>
            <a:r>
              <a:t>intenção de construir.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3378200"/>
            <a:ext cx="3403600" cy="231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3632200"/>
            <a:ext cx="2540000" cy="312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A0A0A"/>
                </a:solidFill>
                <a:latin typeface="Space Grotesk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165600"/>
            <a:ext cx="2984500" cy="436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A0A0A"/>
                </a:solidFill>
                <a:latin typeface="Space Grotesk Medium"/>
              </a:defRPr>
            </a:pPr>
            <a:r>
              <a:t>Experiências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4749800"/>
            <a:ext cx="29845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A6475"/>
                </a:solidFill>
                <a:latin typeface="Space Grotesk"/>
              </a:defRPr>
            </a:pPr>
            <a:r>
              <a:t>Interfaces e produtos</a:t>
            </a:r>
          </a:p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A6475"/>
                </a:solidFill>
                <a:latin typeface="Space Grotesk"/>
              </a:defRPr>
            </a:pPr>
            <a:r>
              <a:t>digitais para a web.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4200" y="3378200"/>
            <a:ext cx="3403600" cy="231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8200" y="3632200"/>
            <a:ext cx="2540000" cy="312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A0A0A"/>
                </a:solidFill>
                <a:latin typeface="Space Grotesk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200" y="4165600"/>
            <a:ext cx="2984500" cy="436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A0A0A"/>
                </a:solidFill>
                <a:latin typeface="Space Grotesk Medium"/>
              </a:defRPr>
            </a:pPr>
            <a:r>
              <a:t>Sistemas sob medida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4749800"/>
            <a:ext cx="29845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A6475"/>
                </a:solidFill>
                <a:latin typeface="Space Grotesk"/>
              </a:defRPr>
            </a:pPr>
            <a:r>
              <a:t>Ferramentas para necessidades</a:t>
            </a:r>
          </a:p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A6475"/>
                </a:solidFill>
                <a:latin typeface="Space Grotesk"/>
              </a:defRPr>
            </a:pPr>
            <a:r>
              <a:t>específicas de uma operação.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6400" y="3378200"/>
            <a:ext cx="3403600" cy="2311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400" y="3632200"/>
            <a:ext cx="2540000" cy="312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A0A0A"/>
                </a:solidFill>
                <a:latin typeface="Space Grotesk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400" y="4165600"/>
            <a:ext cx="2984500" cy="4368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0A0A0A"/>
                </a:solidFill>
                <a:latin typeface="Space Grotesk Medium"/>
              </a:defRPr>
            </a:pPr>
            <a:r>
              <a:t>Integrações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400" y="4749800"/>
            <a:ext cx="29845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A6475"/>
                </a:solidFill>
                <a:latin typeface="Space Grotesk"/>
              </a:defRPr>
            </a:pPr>
            <a:r>
              <a:t>Conexões entre sistemas</a:t>
            </a:r>
          </a:p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A6475"/>
                </a:solidFill>
                <a:latin typeface="Space Grotesk"/>
              </a:defRPr>
            </a:pPr>
            <a:r>
              <a:t>e fluxos de informação.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2000" y="6172200"/>
            <a:ext cx="10668000" cy="0"/>
          </a:xfrm>
          <a:prstGeom prst="line">
            <a:avLst/>
          </a:prstGeom>
          <a:ln w="7620">
            <a:solidFill>
              <a:srgbClr val="454B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2000" y="6388100"/>
            <a:ext cx="10668000" cy="2819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6BDC9"/>
                </a:solidFill>
                <a:latin typeface="Space Grotesk Medium"/>
              </a:defRPr>
            </a:pPr>
            <a:r>
              <a:t>BRAVITE  /  SOFTWARE HOUSE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1500" y="6388100"/>
            <a:ext cx="6032500" cy="2819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6BDC9"/>
                </a:solidFill>
                <a:latin typeface="Space Grotesk"/>
              </a:defRPr>
            </a:pPr>
            <a:r>
              <a:t>CATÁLOGO SUGERIDO · VALIDAR ANTES DE PUBLICAR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23600" y="6337300"/>
            <a:ext cx="406400" cy="3749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Space Grotesk Medium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96900"/>
            <a:ext cx="10668000" cy="2974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475"/>
                </a:solidFill>
                <a:latin typeface="Space Grotesk Medium"/>
              </a:defRPr>
            </a:pPr>
            <a:r>
              <a:t>03 / COLABORAÇÃO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371600"/>
            <a:ext cx="10668000" cy="8397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5612"/>
              </a:lnSpc>
              <a:spcBef>
                <a:spcPts val="0"/>
              </a:spcBef>
              <a:spcAft>
                <a:spcPts val="0"/>
              </a:spcAft>
              <a:defRPr sz="4600" b="0">
                <a:solidFill>
                  <a:srgbClr val="0A0A0A"/>
                </a:solidFill>
                <a:latin typeface="Space Grotesk"/>
              </a:defRPr>
            </a:pPr>
            <a:r>
              <a:t>Da ideia à evolução.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235200"/>
            <a:ext cx="10668000" cy="405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A6475"/>
                </a:solidFill>
                <a:latin typeface="Space Grotesk"/>
              </a:defRPr>
            </a:pPr>
            <a:r>
              <a:t>Um caminho de colaboração proposto.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28700" y="3517900"/>
            <a:ext cx="8331200" cy="0"/>
          </a:xfrm>
          <a:prstGeom prst="line">
            <a:avLst/>
          </a:prstGeom>
          <a:ln w="2540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62000" y="3251200"/>
            <a:ext cx="558800" cy="558800"/>
          </a:xfrm>
          <a:prstGeom prst="rect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9000" y="3403600"/>
            <a:ext cx="355600" cy="3594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Space Grotesk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152900"/>
            <a:ext cx="2578100" cy="5298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0A0A0A"/>
                </a:solidFill>
                <a:latin typeface="Space Grotesk Medium"/>
              </a:defRPr>
            </a:pPr>
            <a:r>
              <a:t>Entender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787900"/>
            <a:ext cx="2565400" cy="73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A6475"/>
                </a:solidFill>
                <a:latin typeface="Space Grotesk"/>
              </a:defRPr>
            </a:pPr>
            <a:r>
              <a:t>Contexto, pessoas,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A6475"/>
                </a:solidFill>
                <a:latin typeface="Space Grotesk"/>
              </a:defRPr>
            </a:pPr>
            <a:r>
              <a:t>necessidades e restrições.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30600" y="3251200"/>
            <a:ext cx="558800" cy="558800"/>
          </a:xfrm>
          <a:prstGeom prst="rect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3403600"/>
            <a:ext cx="355600" cy="3594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Space Grotesk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0600" y="4152900"/>
            <a:ext cx="2578100" cy="5298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0A0A0A"/>
                </a:solidFill>
                <a:latin typeface="Space Grotesk Medium"/>
              </a:defRPr>
            </a:pPr>
            <a:r>
              <a:t>Estruturar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0600" y="4787900"/>
            <a:ext cx="2565400" cy="73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A6475"/>
                </a:solidFill>
                <a:latin typeface="Space Grotesk"/>
              </a:defRPr>
            </a:pPr>
            <a:r>
              <a:t>Escopo, prioridades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A6475"/>
                </a:solidFill>
                <a:latin typeface="Space Grotesk"/>
              </a:defRPr>
            </a:pPr>
            <a:r>
              <a:t>e critérios de aceite.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9200" y="3251200"/>
            <a:ext cx="558800" cy="558800"/>
          </a:xfrm>
          <a:prstGeom prst="rect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6200" y="3403600"/>
            <a:ext cx="355600" cy="3594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Space Grotesk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4152900"/>
            <a:ext cx="2578100" cy="5298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0A0A0A"/>
                </a:solidFill>
                <a:latin typeface="Space Grotesk Medium"/>
              </a:defRPr>
            </a:pPr>
            <a:r>
              <a:t>Construir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9200" y="4787900"/>
            <a:ext cx="2565400" cy="73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A6475"/>
                </a:solidFill>
                <a:latin typeface="Space Grotesk"/>
              </a:defRPr>
            </a:pPr>
            <a:r>
              <a:t>Implementação 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A6475"/>
                </a:solidFill>
                <a:latin typeface="Space Grotesk"/>
              </a:defRPr>
            </a:pPr>
            <a:r>
              <a:t>decisões acompanhadas.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67800" y="3251200"/>
            <a:ext cx="558800" cy="558800"/>
          </a:xfrm>
          <a:prstGeom prst="rect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4800" y="3403600"/>
            <a:ext cx="355600" cy="3594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Space Grotesk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7800" y="4152900"/>
            <a:ext cx="2578100" cy="5298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0A0A0A"/>
                </a:solidFill>
                <a:latin typeface="Space Grotesk Medium"/>
              </a:defRPr>
            </a:pPr>
            <a:r>
              <a:t>Evoluir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7800" y="4787900"/>
            <a:ext cx="2565400" cy="736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A6475"/>
                </a:solidFill>
                <a:latin typeface="Space Grotesk"/>
              </a:defRPr>
            </a:pPr>
            <a:r>
              <a:t>Revisão da entrega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A6475"/>
                </a:solidFill>
                <a:latin typeface="Space Grotesk"/>
              </a:defRPr>
            </a:pPr>
            <a:r>
              <a:t>e próximos passos.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2000" y="6172200"/>
            <a:ext cx="10668000" cy="0"/>
          </a:xfrm>
          <a:prstGeom prst="line">
            <a:avLst/>
          </a:prstGeom>
          <a:ln w="762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62000" y="6388100"/>
            <a:ext cx="10668000" cy="2819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475"/>
                </a:solidFill>
                <a:latin typeface="Space Grotesk Medium"/>
              </a:defRPr>
            </a:pPr>
            <a:r>
              <a:t>BRAVITE  /  SOFTWARE HOUSE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1500" y="6388100"/>
            <a:ext cx="6032500" cy="2819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475"/>
                </a:solidFill>
                <a:latin typeface="Space Grotesk"/>
              </a:defRPr>
            </a:pPr>
            <a:r>
              <a:t>PROCESSO SUGERIDO · ADAPTAR À OPERAÇÃO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23600" y="6337300"/>
            <a:ext cx="406400" cy="3749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A0A0A"/>
                </a:solidFill>
                <a:latin typeface="Space Grotesk Medium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96900"/>
            <a:ext cx="10668000" cy="2974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475"/>
                </a:solidFill>
                <a:latin typeface="Space Grotesk Medium"/>
              </a:defRPr>
            </a:pPr>
            <a:r>
              <a:t>04 / BASE DA PROPOSTA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99500" y="596900"/>
            <a:ext cx="2857500" cy="2974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475"/>
                </a:solidFill>
                <a:latin typeface="Space Grotesk Medium"/>
              </a:defRPr>
            </a:pPr>
            <a:r>
              <a:t>MODELO PARA PREENCHER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358900"/>
            <a:ext cx="10414000" cy="808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5368"/>
              </a:lnSpc>
              <a:spcBef>
                <a:spcPts val="0"/>
              </a:spcBef>
              <a:spcAft>
                <a:spcPts val="0"/>
              </a:spcAft>
              <a:defRPr sz="4400" b="0">
                <a:solidFill>
                  <a:srgbClr val="0A0A0A"/>
                </a:solidFill>
                <a:latin typeface="Space Grotesk"/>
              </a:defRPr>
            </a:pPr>
            <a:r>
              <a:t>[Cliente / projeto]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62000" y="2565400"/>
            <a:ext cx="5181600" cy="0"/>
          </a:xfrm>
          <a:prstGeom prst="line">
            <a:avLst/>
          </a:prstGeom>
          <a:ln w="1270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2000" y="2743200"/>
            <a:ext cx="5080000" cy="2819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A6475"/>
                </a:solidFill>
                <a:latin typeface="Space Grotesk"/>
              </a:defRPr>
            </a:pPr>
            <a:r>
              <a:t>OBJETIVO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060700"/>
            <a:ext cx="5181600" cy="405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A0A0A"/>
                </a:solidFill>
                <a:latin typeface="Space Grotesk"/>
              </a:defRPr>
            </a:pPr>
            <a:r>
              <a:t>[Resultado desejado]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248400" y="2565400"/>
            <a:ext cx="5181600" cy="0"/>
          </a:xfrm>
          <a:prstGeom prst="line">
            <a:avLst/>
          </a:prstGeom>
          <a:ln w="1270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48400" y="2743200"/>
            <a:ext cx="5080000" cy="2819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A6475"/>
                </a:solidFill>
                <a:latin typeface="Space Grotesk"/>
              </a:defRPr>
            </a:pPr>
            <a:r>
              <a:t>ENTREGÁVEIS E LIMITES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3060700"/>
            <a:ext cx="5181600" cy="405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A0A0A"/>
                </a:solidFill>
                <a:latin typeface="Space Grotesk"/>
              </a:defRPr>
            </a:pPr>
            <a:r>
              <a:t>[Escopo incluído / excluído]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2000" y="3683000"/>
            <a:ext cx="5181600" cy="0"/>
          </a:xfrm>
          <a:prstGeom prst="line">
            <a:avLst/>
          </a:prstGeom>
          <a:ln w="1270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2000" y="3860800"/>
            <a:ext cx="5080000" cy="2819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A6475"/>
                </a:solidFill>
                <a:latin typeface="Space Grotesk"/>
              </a:defRPr>
            </a:pPr>
            <a:r>
              <a:t>ETAPAS E PRAZOS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178300"/>
            <a:ext cx="5181600" cy="405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A0A0A"/>
                </a:solidFill>
                <a:latin typeface="Space Grotesk"/>
              </a:defRPr>
            </a:pPr>
            <a:r>
              <a:t>[Cronograma acordado]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48400" y="3683000"/>
            <a:ext cx="5181600" cy="0"/>
          </a:xfrm>
          <a:prstGeom prst="line">
            <a:avLst/>
          </a:prstGeom>
          <a:ln w="1270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48400" y="3860800"/>
            <a:ext cx="5080000" cy="2819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A6475"/>
                </a:solidFill>
                <a:latin typeface="Space Grotesk"/>
              </a:defRPr>
            </a:pPr>
            <a:r>
              <a:t>INVESTIMENTO E CONDIÇÕES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400" y="4178300"/>
            <a:ext cx="5181600" cy="405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A0A0A"/>
                </a:solidFill>
                <a:latin typeface="Space Grotesk"/>
              </a:defRPr>
            </a:pPr>
            <a:r>
              <a:t>[Valor / condições de pagamento]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2000" y="4800600"/>
            <a:ext cx="5181600" cy="0"/>
          </a:xfrm>
          <a:prstGeom prst="line">
            <a:avLst/>
          </a:prstGeom>
          <a:ln w="1270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2000" y="4978400"/>
            <a:ext cx="5080000" cy="2819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A6475"/>
                </a:solidFill>
                <a:latin typeface="Space Grotesk"/>
              </a:defRPr>
            </a:pPr>
            <a:r>
              <a:t>CRITÉRIOS DE ACEITE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295900"/>
            <a:ext cx="5181600" cy="405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A0A0A"/>
                </a:solidFill>
                <a:latin typeface="Space Grotesk"/>
              </a:defRPr>
            </a:pPr>
            <a:r>
              <a:t>[Como validar a entrega]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48400" y="4800600"/>
            <a:ext cx="5181600" cy="0"/>
          </a:xfrm>
          <a:prstGeom prst="line">
            <a:avLst/>
          </a:prstGeom>
          <a:ln w="1270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48400" y="4978400"/>
            <a:ext cx="5080000" cy="2819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A6475"/>
                </a:solidFill>
                <a:latin typeface="Space Grotesk"/>
              </a:defRPr>
            </a:pPr>
            <a:r>
              <a:t>RESPONSABILIDADES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8400" y="5295900"/>
            <a:ext cx="5181600" cy="405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A0A0A"/>
                </a:solidFill>
                <a:latin typeface="Space Grotesk"/>
              </a:defRPr>
            </a:pPr>
            <a:r>
              <a:t>[Acessos / insumos / aprovações]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2000" y="6172200"/>
            <a:ext cx="10668000" cy="0"/>
          </a:xfrm>
          <a:prstGeom prst="line">
            <a:avLst/>
          </a:prstGeom>
          <a:ln w="7620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2000" y="6388100"/>
            <a:ext cx="10668000" cy="2819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475"/>
                </a:solidFill>
                <a:latin typeface="Space Grotesk Medium"/>
              </a:defRPr>
            </a:pPr>
            <a:r>
              <a:t>BRAVITE  /  SOFTWARE HOUSE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1500" y="6388100"/>
            <a:ext cx="6032500" cy="2819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475"/>
                </a:solidFill>
                <a:latin typeface="Space Grotesk"/>
              </a:defRPr>
            </a:pPr>
            <a:r>
              <a:t>SUBSTITUIR OS CAMPOS ANTES DO ENVIO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23600" y="6337300"/>
            <a:ext cx="406400" cy="3749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A0A0A"/>
                </a:solidFill>
                <a:latin typeface="Space Grotesk Medium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la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22300"/>
            <a:ext cx="2895600" cy="419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2146300"/>
            <a:ext cx="10604500" cy="1752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6400"/>
              </a:lnSpc>
              <a:spcBef>
                <a:spcPts val="0"/>
              </a:spcBef>
              <a:spcAft>
                <a:spcPts val="0"/>
              </a:spcAft>
              <a:defRPr sz="5200" b="0">
                <a:solidFill>
                  <a:srgbClr val="FFFFFF"/>
                </a:solidFill>
                <a:latin typeface="Space Grotesk"/>
              </a:defRPr>
            </a:pPr>
            <a:r>
              <a:t>Vamos dar forma</a:t>
            </a:r>
          </a:p>
          <a:p>
            <a:pPr>
              <a:lnSpc>
                <a:spcPts val="6400"/>
              </a:lnSpc>
              <a:spcBef>
                <a:spcPts val="0"/>
              </a:spcBef>
              <a:spcAft>
                <a:spcPts val="0"/>
              </a:spcAft>
              <a:defRPr sz="5200" b="0">
                <a:solidFill>
                  <a:srgbClr val="FFFFFF"/>
                </a:solidFill>
                <a:latin typeface="Space Grotesk"/>
              </a:defRPr>
            </a:pPr>
            <a:r>
              <a:t>à próxima ideia.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4610100"/>
            <a:ext cx="596900" cy="63500"/>
          </a:xfrm>
          <a:prstGeom prst="rect">
            <a:avLst/>
          </a:prstGeom>
          <a:solidFill>
            <a:srgbClr val="2D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067300"/>
            <a:ext cx="6223000" cy="4678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Space Grotesk Medium"/>
              </a:defRPr>
            </a:pPr>
            <a:r>
              <a:t>www.bravite.com.br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0"/>
            <a:ext cx="6223000" cy="390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B6BDC9"/>
                </a:solidFill>
                <a:latin typeface="Space Grotesk"/>
              </a:defRPr>
            </a:pPr>
            <a:r>
              <a:t>Instagram  @bravite.br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7100" y="5270500"/>
            <a:ext cx="30480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pace Grotesk Medium"/>
              </a:defRPr>
            </a:pPr>
            <a:r>
              <a:t>CORAGEM. TECNOLOGIA.</a:t>
            </a:r>
          </a:p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Space Grotesk Medium"/>
              </a:defRPr>
            </a:pPr>
            <a:r>
              <a:t>ENGENHARIA.</a:t>
            </a:r>
          </a:p>
        </p:txBody>
      </p:sp>
    </p:spTree>
  </p:cSld>
  <p:clrMapOvr>
    <a:masterClrMapping/>
  </p:clrMapOvr>
</p:sld>
</file>

<file path=ppt/theme/theme1.xml><?xml version="1.0" encoding="utf-8"?>
<ns0:theme xmlns:ns0="http://schemas.openxmlformats.org/drawingml/2006/main" name="Office Theme">
  <ns0:themeElements>
    <ns0:clrScheme name="Bravite 2.0">
      <ns0:dk1>
        <ns0:srgbClr val="0A0A0A"/>
      </ns0:dk1>
      <ns0:lt1>
        <ns0:srgbClr val="FFFFFF"/>
      </ns0:lt1>
      <ns0:dk2>
        <ns0:srgbClr val="5A6475"/>
      </ns0:dk2>
      <ns0:lt2>
        <ns0:srgbClr val="F3F4F6"/>
      </ns0:lt2>
      <ns0:accent1>
        <ns0:srgbClr val="2D6BFF"/>
      </ns0:accent1>
      <ns0:accent2>
        <ns0:srgbClr val="0A0A0A"/>
      </ns0:accent2>
      <ns0:accent3>
        <ns0:srgbClr val="5A6475"/>
      </ns0:accent3>
      <ns0:accent4>
        <ns0:srgbClr val="D9DEE7"/>
      </ns0:accent4>
      <ns0:accent5>
        <ns0:srgbClr val="F3F4F6"/>
      </ns0:accent5>
      <ns0:accent6>
        <ns0:srgbClr val="FFFFFF"/>
      </ns0:accent6>
      <ns0:hlink>
        <ns0:srgbClr val="2D6BFF"/>
      </ns0:hlink>
      <ns0:folHlink>
        <ns0:srgbClr val="0A0A0A"/>
      </ns0:folHlink>
    </ns0:clrScheme>
    <ns0:fontScheme name="Office">
      <ns0:majorFont>
        <ns0:latin typeface="Space Grotesk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Space Grotesk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tint val="100000"/>
                <ns0:shade val="100000"/>
                <ns0:satMod val="130000"/>
              </ns0:schemeClr>
            </ns0:gs>
            <ns0:gs pos="100000">
              <ns0:schemeClr val="phClr">
                <ns0:tint val="50000"/>
                <ns0:shade val="100000"/>
                <ns0:satMod val="350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>
    <ns0:spDef>
      <ns0:spPr/>
      <ns0:bodyPr/>
      <ns0:lstStyle/>
      <ns0:style>
        <ns0:lnRef idx="1">
          <ns0:schemeClr val="accent1"/>
        </ns0:lnRef>
        <ns0:fillRef idx="3">
          <ns0:schemeClr val="accent1"/>
        </ns0:fillRef>
        <ns0:effectRef idx="2">
          <ns0:schemeClr val="accent1"/>
        </ns0:effectRef>
        <ns0:fontRef idx="minor">
          <ns0:schemeClr val="lt1"/>
        </ns0:fontRef>
      </ns0:style>
    </ns0:spDef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</ns0:theme>
</file>

<file path=ppt/theme/theme2.xml><?xml version="1.0" encoding="utf-8"?>
<ns0:theme xmlns:ns0="http://schemas.openxmlformats.org/drawingml/2006/main" name="Office Theme">
  <ns0:themeElements>
    <ns0:clrScheme name="Bravite 2.0">
      <ns0:dk1>
        <ns0:srgbClr val="0A0A0A"/>
      </ns0:dk1>
      <ns0:lt1>
        <ns0:srgbClr val="FFFFFF"/>
      </ns0:lt1>
      <ns0:dk2>
        <ns0:srgbClr val="5A6475"/>
      </ns0:dk2>
      <ns0:lt2>
        <ns0:srgbClr val="F3F4F6"/>
      </ns0:lt2>
      <ns0:accent1>
        <ns0:srgbClr val="2D6BFF"/>
      </ns0:accent1>
      <ns0:accent2>
        <ns0:srgbClr val="0A0A0A"/>
      </ns0:accent2>
      <ns0:accent3>
        <ns0:srgbClr val="5A6475"/>
      </ns0:accent3>
      <ns0:accent4>
        <ns0:srgbClr val="D9DEE7"/>
      </ns0:accent4>
      <ns0:accent5>
        <ns0:srgbClr val="F3F4F6"/>
      </ns0:accent5>
      <ns0:accent6>
        <ns0:srgbClr val="FFFFFF"/>
      </ns0:accent6>
      <ns0:hlink>
        <ns0:srgbClr val="2D6BFF"/>
      </ns0:hlink>
      <ns0:folHlink>
        <ns0:srgbClr val="0A0A0A"/>
      </ns0:folHlink>
    </ns0:clrScheme>
    <ns0:fontScheme name="Office">
      <ns0:majorFont>
        <ns0:latin typeface="Space Grotesk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Space Grotesk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tint val="100000"/>
                <ns0:shade val="100000"/>
                <ns0:satMod val="130000"/>
              </ns0:schemeClr>
            </ns0:gs>
            <ns0:gs pos="100000">
              <ns0:schemeClr val="phClr">
                <ns0:tint val="50000"/>
                <ns0:shade val="100000"/>
                <ns0:satMod val="350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>
    <ns0:spDef>
      <ns0:spPr/>
      <ns0:bodyPr/>
      <ns0:lstStyle/>
      <ns0:style>
        <ns0:lnRef idx="1">
          <ns0:schemeClr val="accent1"/>
        </ns0:lnRef>
        <ns0:fillRef idx="3">
          <ns0:schemeClr val="accent1"/>
        </ns0:fillRef>
        <ns0:effectRef idx="2">
          <ns0:schemeClr val="accent1"/>
        </ns0:effectRef>
        <ns0:fontRef idx="minor">
          <ns0:schemeClr val="lt1"/>
        </ns0:fontRef>
      </ns0:style>
    </ns0:spDef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</ns0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Bravite — Apresentação institucional e comercial</dc:title>
  <dc:subject>Modelo editável: essência, oferta sugerida, processo e proposta</dc:subject>
  <dc:creator>Bravite</dc:creator>
  <cp:keywords>Bravite, software house, apresentação, modelo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